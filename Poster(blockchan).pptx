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3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057" autoAdjust="0"/>
    <p:restoredTop sz="94660"/>
  </p:normalViewPr>
  <p:slideViewPr>
    <p:cSldViewPr snapToGrid="0" showGuides="1">
      <p:cViewPr varScale="1">
        <p:scale>
          <a:sx n="57" d="100"/>
          <a:sy n="57" d="100"/>
        </p:scale>
        <p:origin x="2813" y="67"/>
      </p:cViewPr>
      <p:guideLst>
        <p:guide orient="horz" pos="31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dirty="0"/>
              <a:t>Click to edit Master title style</a:t>
            </a:r>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sp>
        <p:nvSpPr>
          <p:cNvPr id="4" name="Date Placeholder 3"/>
          <p:cNvSpPr>
            <a:spLocks noGrp="1"/>
          </p:cNvSpPr>
          <p:nvPr>
            <p:ph type="dt" sz="half" idx="10"/>
          </p:nvPr>
        </p:nvSpPr>
        <p:spPr/>
        <p:txBody>
          <a:bodyPr/>
          <a:lstStyle/>
          <a:p>
            <a:fld id="{E95511AC-980B-485A-851E-DBD0B8F4CBAD}" type="datetimeFigureOut">
              <a:rPr lang="en-US" smtClean="0"/>
              <a:t>06/04/2026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880132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95511AC-980B-485A-851E-DBD0B8F4CBAD}" type="datetimeFigureOut">
              <a:rPr lang="en-US" smtClean="0"/>
              <a:t>06/04/2026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534250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dirty="0"/>
              <a:t>Click to edit Master title style</a:t>
            </a:r>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E95511AC-980B-485A-851E-DBD0B8F4CBAD}" type="datetimeFigureOut">
              <a:rPr lang="en-US" smtClean="0"/>
              <a:t>06/04/2026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9580245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471488" y="2637014"/>
            <a:ext cx="2914650" cy="628526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3471863" y="2637014"/>
            <a:ext cx="2914650" cy="628526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E95511AC-980B-485A-851E-DBD0B8F4CBAD}" type="datetimeFigureOut">
              <a:rPr lang="en-US" smtClean="0"/>
              <a:t>06/04/2026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831506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dirty="0"/>
              <a:t>Click to edit Master title style</a:t>
            </a:r>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95511AC-980B-485A-851E-DBD0B8F4CBAD}" type="datetimeFigureOut">
              <a:rPr lang="en-US" smtClean="0"/>
              <a:t>06/04/2026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442525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E95511AC-980B-485A-851E-DBD0B8F4CBAD}" type="datetimeFigureOut">
              <a:rPr lang="en-US" smtClean="0"/>
              <a:t>06/04/2026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755432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5511AC-980B-485A-851E-DBD0B8F4CBAD}" type="datetimeFigureOut">
              <a:rPr lang="en-US" smtClean="0"/>
              <a:t>06/04/2026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943794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dirty="0"/>
              <a:t>Click to edit Master title style</a:t>
            </a:r>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5" name="Date Placeholder 4"/>
          <p:cNvSpPr>
            <a:spLocks noGrp="1"/>
          </p:cNvSpPr>
          <p:nvPr>
            <p:ph type="dt" sz="half" idx="10"/>
          </p:nvPr>
        </p:nvSpPr>
        <p:spPr/>
        <p:txBody>
          <a:bodyPr/>
          <a:lstStyle/>
          <a:p>
            <a:fld id="{E95511AC-980B-485A-851E-DBD0B8F4CBAD}" type="datetimeFigureOut">
              <a:rPr lang="en-US" smtClean="0"/>
              <a:t>06/04/2026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764958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dirty="0"/>
              <a:t>Click to edit Master title style</a:t>
            </a:r>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5" name="Date Placeholder 4"/>
          <p:cNvSpPr>
            <a:spLocks noGrp="1"/>
          </p:cNvSpPr>
          <p:nvPr>
            <p:ph type="dt" sz="half" idx="10"/>
          </p:nvPr>
        </p:nvSpPr>
        <p:spPr/>
        <p:txBody>
          <a:bodyPr/>
          <a:lstStyle/>
          <a:p>
            <a:fld id="{E95511AC-980B-485A-851E-DBD0B8F4CBAD}" type="datetimeFigureOut">
              <a:rPr lang="en-US" smtClean="0"/>
              <a:t>06/04/2026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4036842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95511AC-980B-485A-851E-DBD0B8F4CBAD}" type="datetimeFigureOut">
              <a:rPr lang="en-US" smtClean="0"/>
              <a:t>06/04/2026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3612430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95511AC-980B-485A-851E-DBD0B8F4CBAD}" type="datetimeFigureOut">
              <a:rPr lang="en-US" smtClean="0"/>
              <a:t>06/04/2026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3302977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E95511AC-980B-485A-851E-DBD0B8F4CBAD}" type="datetimeFigureOut">
              <a:rPr lang="en-US" smtClean="0"/>
              <a:t>06/04/2026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06A2BFA2-7CEB-4D76-9663-917F13DE4B1E}" type="slidenum">
              <a:rPr lang="en-US" smtClean="0"/>
              <a:t>‹#›</a:t>
            </a:fld>
            <a:endParaRPr lang="en-US"/>
          </a:p>
        </p:txBody>
      </p:sp>
    </p:spTree>
    <p:extLst>
      <p:ext uri="{BB962C8B-B14F-4D97-AF65-F5344CB8AC3E}">
        <p14:creationId xmlns:p14="http://schemas.microsoft.com/office/powerpoint/2010/main" val="2082738294"/>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jpeg"/><Relationship Id="rId12" Type="http://schemas.openxmlformats.org/officeDocument/2006/relationships/image" Target="../media/image11.png"/><Relationship Id="rId2" Type="http://schemas.openxmlformats.org/officeDocument/2006/relationships/image" Target="../media/image1.png"/><Relationship Id="rId16"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Table 35">
            <a:extLst>
              <a:ext uri="{FF2B5EF4-FFF2-40B4-BE49-F238E27FC236}">
                <a16:creationId xmlns:a16="http://schemas.microsoft.com/office/drawing/2014/main" id="{DEBFABA5-206B-548E-3C0E-CC2EE202AB31}"/>
              </a:ext>
            </a:extLst>
          </p:cNvPr>
          <p:cNvGraphicFramePr>
            <a:graphicFrameLocks noGrp="1"/>
          </p:cNvGraphicFramePr>
          <p:nvPr>
            <p:extLst>
              <p:ext uri="{D42A27DB-BD31-4B8C-83A1-F6EECF244321}">
                <p14:modId xmlns:p14="http://schemas.microsoft.com/office/powerpoint/2010/main" val="1139860820"/>
              </p:ext>
            </p:extLst>
          </p:nvPr>
        </p:nvGraphicFramePr>
        <p:xfrm>
          <a:off x="71979" y="2356347"/>
          <a:ext cx="3890421" cy="1478280"/>
        </p:xfrm>
        <a:graphic>
          <a:graphicData uri="http://schemas.openxmlformats.org/drawingml/2006/table">
            <a:tbl>
              <a:tblPr firstRow="1" bandRow="1">
                <a:tableStyleId>{5C22544A-7EE6-4342-B048-85BDC9FD1C3A}</a:tableStyleId>
              </a:tblPr>
              <a:tblGrid>
                <a:gridCol w="3890421">
                  <a:extLst>
                    <a:ext uri="{9D8B030D-6E8A-4147-A177-3AD203B41FA5}">
                      <a16:colId xmlns:a16="http://schemas.microsoft.com/office/drawing/2014/main" val="1520847292"/>
                    </a:ext>
                  </a:extLst>
                </a:gridCol>
              </a:tblGrid>
              <a:tr h="24380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b="1" dirty="0" err="1">
                          <a:solidFill>
                            <a:schemeClr val="bg1"/>
                          </a:solidFill>
                          <a:latin typeface="Arial" panose="020B0604020202020204" pitchFamily="34" charset="0"/>
                          <a:cs typeface="Arial" panose="020B0604020202020204" pitchFamily="34" charset="0"/>
                        </a:rPr>
                        <a:t>Giới</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thiệu</a:t>
                      </a:r>
                      <a:endParaRPr lang="en-US" sz="1000" b="1" dirty="0">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3F99"/>
                    </a:solidFill>
                  </a:tcPr>
                </a:tc>
                <a:extLst>
                  <a:ext uri="{0D108BD9-81ED-4DB2-BD59-A6C34878D82A}">
                    <a16:rowId xmlns:a16="http://schemas.microsoft.com/office/drawing/2014/main" val="2535013272"/>
                  </a:ext>
                </a:extLst>
              </a:tr>
              <a:tr h="1189349">
                <a:tc>
                  <a:txBody>
                    <a:bodyPr/>
                    <a:lstStyle/>
                    <a:p>
                      <a:pPr algn="just"/>
                      <a:r>
                        <a:rPr lang="vi-VN" sz="750" b="0" i="0" kern="1200" dirty="0">
                          <a:solidFill>
                            <a:schemeClr val="dk1"/>
                          </a:solidFill>
                          <a:effectLst/>
                          <a:latin typeface="+mj-lt"/>
                          <a:ea typeface="+mn-ea"/>
                          <a:cs typeface="+mn-cs"/>
                        </a:rPr>
                        <a:t>Hệ thống truy xuất nguồn gốc sản phẩm ứng dụng </a:t>
                      </a:r>
                      <a:r>
                        <a:rPr lang="vi-VN" sz="750" b="0" i="0" kern="1200" dirty="0" err="1">
                          <a:solidFill>
                            <a:schemeClr val="dk1"/>
                          </a:solidFill>
                          <a:effectLst/>
                          <a:latin typeface="+mj-lt"/>
                          <a:ea typeface="+mn-ea"/>
                          <a:cs typeface="+mn-cs"/>
                        </a:rPr>
                        <a:t>Blockchain</a:t>
                      </a:r>
                      <a:r>
                        <a:rPr lang="vi-VN" sz="750" b="0" i="0" kern="1200" dirty="0">
                          <a:solidFill>
                            <a:schemeClr val="dk1"/>
                          </a:solidFill>
                          <a:effectLst/>
                          <a:latin typeface="+mj-lt"/>
                          <a:ea typeface="+mn-ea"/>
                          <a:cs typeface="+mn-cs"/>
                        </a:rPr>
                        <a:t> là giải pháp kết hợp giữa quản lý chuỗi cung ứng truyền thống và công nghệ </a:t>
                      </a:r>
                      <a:r>
                        <a:rPr lang="vi-VN" sz="750" b="0" i="0" kern="1200" dirty="0" err="1">
                          <a:solidFill>
                            <a:schemeClr val="dk1"/>
                          </a:solidFill>
                          <a:effectLst/>
                          <a:latin typeface="+mj-lt"/>
                          <a:ea typeface="+mn-ea"/>
                          <a:cs typeface="+mn-cs"/>
                        </a:rPr>
                        <a:t>blockchain</a:t>
                      </a:r>
                      <a:r>
                        <a:rPr lang="vi-VN" sz="750" b="0" i="0" kern="1200" dirty="0">
                          <a:solidFill>
                            <a:schemeClr val="dk1"/>
                          </a:solidFill>
                          <a:effectLst/>
                          <a:latin typeface="+mj-lt"/>
                          <a:ea typeface="+mn-ea"/>
                          <a:cs typeface="+mn-cs"/>
                        </a:rPr>
                        <a:t> hiện đại, giúp doanh nghiệp theo dõi toàn bộ vòng đời sản phẩm từ khâu sản xuất, đóng gói, vận chuyển đến khi bán cho người tiêu dùng một cách chính xác, minh bạch và bảo mật. Mỗi sản phẩm được tạo lập với các thông tin chi tiết như tên, mô tả, xuất xứ, giá bán, hạn sử dụng và hình ảnh, sau đó mỗi lần cập nhật trạng thái (sản xuất, đóng gói, vận chuyển, nhận hàng, bán hàng) đều được tự động ghi nhận lên chuỗi khối với cơ chế mã hóa và chữ ký số, đảm bảo lịch sử dữ liệu không thể bị chỉnh sửa hay giả mạo. Hệ thống giúp doanh nghiệp tăng độ tin cậy dữ liệu, hỗ trợ truy vết nguồn gốc hàng hóa, hạn chế rủi ro gian lận trong chuỗi cung ứng, đồng thời giúp người tiêu dùng dễ dàng kiểm tra thông tin sản phẩm chỉ bằng mã ID hoặc quét mã QR.</a:t>
                      </a:r>
                      <a:endParaRPr lang="vi-VN" sz="750" dirty="0">
                        <a:latin typeface="+mj-lt"/>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7830843"/>
                  </a:ext>
                </a:extLst>
              </a:tr>
            </a:tbl>
          </a:graphicData>
        </a:graphic>
      </p:graphicFrame>
      <p:graphicFrame>
        <p:nvGraphicFramePr>
          <p:cNvPr id="7" name="Table 6">
            <a:extLst>
              <a:ext uri="{FF2B5EF4-FFF2-40B4-BE49-F238E27FC236}">
                <a16:creationId xmlns:a16="http://schemas.microsoft.com/office/drawing/2014/main" id="{56751592-98ED-BE76-ED93-630A31DCD2F6}"/>
              </a:ext>
            </a:extLst>
          </p:cNvPr>
          <p:cNvGraphicFramePr>
            <a:graphicFrameLocks noGrp="1"/>
          </p:cNvGraphicFramePr>
          <p:nvPr>
            <p:extLst>
              <p:ext uri="{D42A27DB-BD31-4B8C-83A1-F6EECF244321}">
                <p14:modId xmlns:p14="http://schemas.microsoft.com/office/powerpoint/2010/main" val="2116932908"/>
              </p:ext>
            </p:extLst>
          </p:nvPr>
        </p:nvGraphicFramePr>
        <p:xfrm>
          <a:off x="4027952" y="2360409"/>
          <a:ext cx="2789416" cy="2289637"/>
        </p:xfrm>
        <a:graphic>
          <a:graphicData uri="http://schemas.openxmlformats.org/drawingml/2006/table">
            <a:tbl>
              <a:tblPr firstRow="1" bandRow="1">
                <a:tableStyleId>{5C22544A-7EE6-4342-B048-85BDC9FD1C3A}</a:tableStyleId>
              </a:tblPr>
              <a:tblGrid>
                <a:gridCol w="2789416">
                  <a:extLst>
                    <a:ext uri="{9D8B030D-6E8A-4147-A177-3AD203B41FA5}">
                      <a16:colId xmlns:a16="http://schemas.microsoft.com/office/drawing/2014/main" val="1520847292"/>
                    </a:ext>
                  </a:extLst>
                </a:gridCol>
              </a:tblGrid>
              <a:tr h="252445">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b="1" dirty="0" err="1">
                          <a:solidFill>
                            <a:schemeClr val="bg1"/>
                          </a:solidFill>
                          <a:latin typeface="Arial" panose="020B0604020202020204" pitchFamily="34" charset="0"/>
                          <a:cs typeface="Arial" panose="020B0604020202020204" pitchFamily="34" charset="0"/>
                        </a:rPr>
                        <a:t>Kiến</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trúc</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hệ</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thống</a:t>
                      </a:r>
                      <a:endParaRPr lang="en-US" sz="1000" b="1" dirty="0">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233F99"/>
                    </a:solidFill>
                  </a:tcPr>
                </a:tc>
                <a:extLst>
                  <a:ext uri="{0D108BD9-81ED-4DB2-BD59-A6C34878D82A}">
                    <a16:rowId xmlns:a16="http://schemas.microsoft.com/office/drawing/2014/main" val="2535013272"/>
                  </a:ext>
                </a:extLst>
              </a:tr>
              <a:tr h="203719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7830843"/>
                  </a:ext>
                </a:extLst>
              </a:tr>
            </a:tbl>
          </a:graphicData>
        </a:graphic>
      </p:graphicFrame>
      <p:grpSp>
        <p:nvGrpSpPr>
          <p:cNvPr id="70" name="Group 69">
            <a:extLst>
              <a:ext uri="{FF2B5EF4-FFF2-40B4-BE49-F238E27FC236}">
                <a16:creationId xmlns:a16="http://schemas.microsoft.com/office/drawing/2014/main" id="{518BA7C7-D5B3-521F-4863-EB6372F08A16}"/>
              </a:ext>
            </a:extLst>
          </p:cNvPr>
          <p:cNvGrpSpPr/>
          <p:nvPr/>
        </p:nvGrpSpPr>
        <p:grpSpPr>
          <a:xfrm>
            <a:off x="0" y="-39866"/>
            <a:ext cx="6858000" cy="2289646"/>
            <a:chOff x="0" y="-40063"/>
            <a:chExt cx="6858000" cy="2289646"/>
          </a:xfrm>
        </p:grpSpPr>
        <p:grpSp>
          <p:nvGrpSpPr>
            <p:cNvPr id="27" name="Group 26">
              <a:extLst>
                <a:ext uri="{FF2B5EF4-FFF2-40B4-BE49-F238E27FC236}">
                  <a16:creationId xmlns:a16="http://schemas.microsoft.com/office/drawing/2014/main" id="{076F30E7-DE29-4869-A261-9356210766F3}"/>
                </a:ext>
              </a:extLst>
            </p:cNvPr>
            <p:cNvGrpSpPr/>
            <p:nvPr/>
          </p:nvGrpSpPr>
          <p:grpSpPr>
            <a:xfrm>
              <a:off x="0" y="-40063"/>
              <a:ext cx="6858000" cy="1149907"/>
              <a:chOff x="0" y="-40063"/>
              <a:chExt cx="6858000" cy="1149907"/>
            </a:xfrm>
          </p:grpSpPr>
          <p:pic>
            <p:nvPicPr>
              <p:cNvPr id="39" name="Picture 38">
                <a:extLst>
                  <a:ext uri="{FF2B5EF4-FFF2-40B4-BE49-F238E27FC236}">
                    <a16:creationId xmlns:a16="http://schemas.microsoft.com/office/drawing/2014/main" id="{7ABF4E65-9336-CED4-40B5-828F0E50C5E5}"/>
                  </a:ext>
                </a:extLst>
              </p:cNvPr>
              <p:cNvPicPr>
                <a:picLocks noChangeAspect="1"/>
              </p:cNvPicPr>
              <p:nvPr/>
            </p:nvPicPr>
            <p:blipFill>
              <a:blip r:embed="rId2"/>
              <a:stretch>
                <a:fillRect/>
              </a:stretch>
            </p:blipFill>
            <p:spPr>
              <a:xfrm>
                <a:off x="0" y="-1275"/>
                <a:ext cx="6858000" cy="1111119"/>
              </a:xfrm>
              <a:prstGeom prst="rect">
                <a:avLst/>
              </a:prstGeom>
            </p:spPr>
          </p:pic>
          <p:sp>
            <p:nvSpPr>
              <p:cNvPr id="40" name="TextBox 39">
                <a:extLst>
                  <a:ext uri="{FF2B5EF4-FFF2-40B4-BE49-F238E27FC236}">
                    <a16:creationId xmlns:a16="http://schemas.microsoft.com/office/drawing/2014/main" id="{E6C724AE-79C3-CBF7-13D9-AFB8C50186BA}"/>
                  </a:ext>
                </a:extLst>
              </p:cNvPr>
              <p:cNvSpPr txBox="1"/>
              <p:nvPr/>
            </p:nvSpPr>
            <p:spPr>
              <a:xfrm>
                <a:off x="2439016" y="-40063"/>
                <a:ext cx="1991250" cy="400110"/>
              </a:xfrm>
              <a:prstGeom prst="rect">
                <a:avLst/>
              </a:prstGeom>
              <a:noFill/>
            </p:spPr>
            <p:txBody>
              <a:bodyPr wrap="none" rtlCol="0">
                <a:spAutoFit/>
              </a:bodyPr>
              <a:lstStyle/>
              <a:p>
                <a:pPr algn="ctr"/>
                <a:r>
                  <a:rPr lang="en-US" sz="1000" dirty="0">
                    <a:solidFill>
                      <a:schemeClr val="bg1"/>
                    </a:solidFill>
                    <a:latin typeface="Arial Hebrew Scholar" pitchFamily="2" charset="-79"/>
                    <a:cs typeface="Arial Hebrew Scholar" pitchFamily="2" charset="-79"/>
                  </a:rPr>
                  <a:t>T</a:t>
                </a:r>
                <a:r>
                  <a:rPr lang="en-US" sz="1000" b="1" dirty="0">
                    <a:solidFill>
                      <a:schemeClr val="bg1"/>
                    </a:solidFill>
                    <a:latin typeface="Arial Hebrew Scholar" pitchFamily="2" charset="-79"/>
                    <a:cs typeface="Arial Hebrew Scholar" pitchFamily="2" charset="-79"/>
                  </a:rPr>
                  <a:t>RƯỜNG ĐẠI HỌC ĐẠI NAM</a:t>
                </a:r>
              </a:p>
              <a:p>
                <a:pPr algn="ctr"/>
                <a:r>
                  <a:rPr lang="en-US" sz="1000" b="1" dirty="0">
                    <a:solidFill>
                      <a:schemeClr val="bg1"/>
                    </a:solidFill>
                    <a:latin typeface="Arial Hebrew Scholar" pitchFamily="2" charset="-79"/>
                    <a:cs typeface="Arial Hebrew Scholar" pitchFamily="2" charset="-79"/>
                  </a:rPr>
                  <a:t>KHOA CÔNG NGHỆ </a:t>
                </a:r>
                <a:r>
                  <a:rPr lang="en-US" sz="1000" dirty="0">
                    <a:solidFill>
                      <a:schemeClr val="bg1"/>
                    </a:solidFill>
                    <a:latin typeface="Arial Hebrew Scholar" pitchFamily="2" charset="-79"/>
                    <a:cs typeface="Arial Hebrew Scholar" pitchFamily="2" charset="-79"/>
                  </a:rPr>
                  <a:t>T</a:t>
                </a:r>
                <a:r>
                  <a:rPr lang="en-US" sz="1000" b="1" dirty="0">
                    <a:solidFill>
                      <a:schemeClr val="bg1"/>
                    </a:solidFill>
                    <a:latin typeface="Arial Hebrew Scholar" pitchFamily="2" charset="-79"/>
                    <a:cs typeface="Arial Hebrew Scholar" pitchFamily="2" charset="-79"/>
                  </a:rPr>
                  <a:t>HÔNG </a:t>
                </a:r>
                <a:r>
                  <a:rPr lang="en-US" sz="1000" dirty="0">
                    <a:solidFill>
                      <a:schemeClr val="bg1"/>
                    </a:solidFill>
                    <a:latin typeface="Arial Hebrew Scholar" pitchFamily="2" charset="-79"/>
                    <a:cs typeface="Arial Hebrew Scholar" pitchFamily="2" charset="-79"/>
                  </a:rPr>
                  <a:t>T</a:t>
                </a:r>
                <a:r>
                  <a:rPr lang="en-US" sz="1000" b="1" dirty="0">
                    <a:solidFill>
                      <a:schemeClr val="bg1"/>
                    </a:solidFill>
                    <a:latin typeface="Arial Hebrew Scholar" pitchFamily="2" charset="-79"/>
                    <a:cs typeface="Arial Hebrew Scholar" pitchFamily="2" charset="-79"/>
                  </a:rPr>
                  <a:t>IN</a:t>
                </a:r>
              </a:p>
            </p:txBody>
          </p:sp>
        </p:grpSp>
        <p:grpSp>
          <p:nvGrpSpPr>
            <p:cNvPr id="65" name="Group 64">
              <a:extLst>
                <a:ext uri="{FF2B5EF4-FFF2-40B4-BE49-F238E27FC236}">
                  <a16:creationId xmlns:a16="http://schemas.microsoft.com/office/drawing/2014/main" id="{36EBD40C-8A27-10B2-BA61-9E94053E57EA}"/>
                </a:ext>
              </a:extLst>
            </p:cNvPr>
            <p:cNvGrpSpPr/>
            <p:nvPr/>
          </p:nvGrpSpPr>
          <p:grpSpPr>
            <a:xfrm>
              <a:off x="0" y="1082578"/>
              <a:ext cx="6858000" cy="1167005"/>
              <a:chOff x="0" y="1082578"/>
              <a:chExt cx="6858000" cy="1167005"/>
            </a:xfrm>
          </p:grpSpPr>
          <p:sp>
            <p:nvSpPr>
              <p:cNvPr id="5" name="Title 1">
                <a:extLst>
                  <a:ext uri="{FF2B5EF4-FFF2-40B4-BE49-F238E27FC236}">
                    <a16:creationId xmlns:a16="http://schemas.microsoft.com/office/drawing/2014/main" id="{3D9E4F7B-BDBB-AF4A-B4AD-63280788DEC9}"/>
                  </a:ext>
                </a:extLst>
              </p:cNvPr>
              <p:cNvSpPr txBox="1">
                <a:spLocks/>
              </p:cNvSpPr>
              <p:nvPr/>
            </p:nvSpPr>
            <p:spPr>
              <a:xfrm>
                <a:off x="0" y="1082578"/>
                <a:ext cx="6765928" cy="329891"/>
              </a:xfrm>
              <a:prstGeom prst="rect">
                <a:avLst/>
              </a:prstGeom>
            </p:spPr>
            <p:txBody>
              <a:bodyPr vert="horz" lIns="20299" tIns="10150" rIns="20299" bIns="10150" rtlCol="0" anchor="ctr">
                <a:noAutofit/>
              </a:bodyPr>
              <a:lstStyle>
                <a:lvl1pPr algn="ctr" defTabSz="2880360" rtl="0" eaLnBrk="1" latinLnBrk="0" hangingPunct="1">
                  <a:lnSpc>
                    <a:spcPct val="90000"/>
                  </a:lnSpc>
                  <a:spcBef>
                    <a:spcPct val="0"/>
                  </a:spcBef>
                  <a:buNone/>
                  <a:defRPr sz="18900" kern="1200">
                    <a:solidFill>
                      <a:schemeClr val="tx1"/>
                    </a:solidFill>
                    <a:latin typeface="+mj-lt"/>
                    <a:ea typeface="+mj-ea"/>
                    <a:cs typeface="+mj-cs"/>
                  </a:defRPr>
                </a:lvl1pPr>
              </a:lstStyle>
              <a:p>
                <a:r>
                  <a:rPr lang="en-US" sz="1200" b="1" dirty="0">
                    <a:solidFill>
                      <a:schemeClr val="accent2"/>
                    </a:solidFill>
                    <a:latin typeface="Arial Hebrew Scholar" pitchFamily="2" charset="-79"/>
                    <a:cs typeface="Arial Hebrew Scholar" pitchFamily="2" charset="-79"/>
                  </a:rPr>
                  <a:t>HỆ THỐNG QUẢN LÝ KHO HÀNG ỨNG DỤNG BLOCKCHAIN</a:t>
                </a:r>
              </a:p>
            </p:txBody>
          </p:sp>
          <p:sp>
            <p:nvSpPr>
              <p:cNvPr id="6" name="Rectangle 5">
                <a:extLst>
                  <a:ext uri="{FF2B5EF4-FFF2-40B4-BE49-F238E27FC236}">
                    <a16:creationId xmlns:a16="http://schemas.microsoft.com/office/drawing/2014/main" id="{FDB71301-74E9-3D33-787D-882C46CB1337}"/>
                  </a:ext>
                </a:extLst>
              </p:cNvPr>
              <p:cNvSpPr/>
              <p:nvPr/>
            </p:nvSpPr>
            <p:spPr>
              <a:xfrm>
                <a:off x="0" y="1337994"/>
                <a:ext cx="6858000" cy="14559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sz="799" b="1" dirty="0"/>
                  <a:t>Lê Bá Hoan</a:t>
                </a:r>
              </a:p>
            </p:txBody>
          </p:sp>
          <p:pic>
            <p:nvPicPr>
              <p:cNvPr id="63" name="Picture 62">
                <a:extLst>
                  <a:ext uri="{FF2B5EF4-FFF2-40B4-BE49-F238E27FC236}">
                    <a16:creationId xmlns:a16="http://schemas.microsoft.com/office/drawing/2014/main" id="{77C1551A-D245-378A-F0E2-59C5BABF9FCD}"/>
                  </a:ext>
                </a:extLst>
              </p:cNvPr>
              <p:cNvPicPr>
                <a:picLocks noChangeAspect="1"/>
              </p:cNvPicPr>
              <p:nvPr/>
            </p:nvPicPr>
            <p:blipFill>
              <a:blip r:embed="rId3"/>
              <a:stretch>
                <a:fillRect/>
              </a:stretch>
            </p:blipFill>
            <p:spPr>
              <a:xfrm>
                <a:off x="2620895" y="1512206"/>
                <a:ext cx="1616210" cy="737377"/>
              </a:xfrm>
              <a:prstGeom prst="rect">
                <a:avLst/>
              </a:prstGeom>
            </p:spPr>
          </p:pic>
        </p:grpSp>
      </p:grpSp>
      <p:graphicFrame>
        <p:nvGraphicFramePr>
          <p:cNvPr id="73" name="Table 72">
            <a:extLst>
              <a:ext uri="{FF2B5EF4-FFF2-40B4-BE49-F238E27FC236}">
                <a16:creationId xmlns:a16="http://schemas.microsoft.com/office/drawing/2014/main" id="{1CED74D1-B04A-EC38-34C4-DD7DDC44634A}"/>
              </a:ext>
            </a:extLst>
          </p:cNvPr>
          <p:cNvGraphicFramePr>
            <a:graphicFrameLocks noGrp="1"/>
          </p:cNvGraphicFramePr>
          <p:nvPr>
            <p:extLst>
              <p:ext uri="{D42A27DB-BD31-4B8C-83A1-F6EECF244321}">
                <p14:modId xmlns:p14="http://schemas.microsoft.com/office/powerpoint/2010/main" val="3407211634"/>
              </p:ext>
            </p:extLst>
          </p:nvPr>
        </p:nvGraphicFramePr>
        <p:xfrm>
          <a:off x="4027952" y="4670365"/>
          <a:ext cx="2789415" cy="1926010"/>
        </p:xfrm>
        <a:graphic>
          <a:graphicData uri="http://schemas.openxmlformats.org/drawingml/2006/table">
            <a:tbl>
              <a:tblPr firstRow="1" bandRow="1">
                <a:tableStyleId>{5C22544A-7EE6-4342-B048-85BDC9FD1C3A}</a:tableStyleId>
              </a:tblPr>
              <a:tblGrid>
                <a:gridCol w="2789415">
                  <a:extLst>
                    <a:ext uri="{9D8B030D-6E8A-4147-A177-3AD203B41FA5}">
                      <a16:colId xmlns:a16="http://schemas.microsoft.com/office/drawing/2014/main" val="1520847292"/>
                    </a:ext>
                  </a:extLst>
                </a:gridCol>
              </a:tblGrid>
              <a:tr h="255726">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b="1" dirty="0" err="1">
                          <a:solidFill>
                            <a:schemeClr val="bg1"/>
                          </a:solidFill>
                          <a:latin typeface="Arial" panose="020B0604020202020204" pitchFamily="34" charset="0"/>
                          <a:cs typeface="Arial" panose="020B0604020202020204" pitchFamily="34" charset="0"/>
                        </a:rPr>
                        <a:t>Công</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nghệ</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sử</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dụng</a:t>
                      </a:r>
                      <a:endParaRPr lang="en-US" sz="1000" b="1" dirty="0">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3F99"/>
                    </a:solidFill>
                  </a:tcPr>
                </a:tc>
                <a:extLst>
                  <a:ext uri="{0D108BD9-81ED-4DB2-BD59-A6C34878D82A}">
                    <a16:rowId xmlns:a16="http://schemas.microsoft.com/office/drawing/2014/main" val="2535013272"/>
                  </a:ext>
                </a:extLst>
              </a:tr>
              <a:tr h="167028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err="1">
                          <a:solidFill>
                            <a:schemeClr val="tx1"/>
                          </a:solidFill>
                          <a:latin typeface="Arial" panose="020B0604020202020204" pitchFamily="34" charset="0"/>
                          <a:cs typeface="Arial" panose="020B0604020202020204" pitchFamily="34" charset="0"/>
                        </a:rPr>
                        <a:t>Công</a:t>
                      </a:r>
                      <a:r>
                        <a:rPr lang="en-US" sz="900" b="0" dirty="0">
                          <a:solidFill>
                            <a:schemeClr val="tx1"/>
                          </a:solidFill>
                          <a:latin typeface="Arial" panose="020B0604020202020204" pitchFamily="34" charset="0"/>
                          <a:cs typeface="Arial" panose="020B0604020202020204" pitchFamily="34" charset="0"/>
                        </a:rPr>
                        <a:t> </a:t>
                      </a:r>
                      <a:r>
                        <a:rPr lang="en-US" sz="900" b="0" dirty="0" err="1">
                          <a:solidFill>
                            <a:schemeClr val="tx1"/>
                          </a:solidFill>
                          <a:latin typeface="Arial" panose="020B0604020202020204" pitchFamily="34" charset="0"/>
                          <a:cs typeface="Arial" panose="020B0604020202020204" pitchFamily="34" charset="0"/>
                        </a:rPr>
                        <a:t>nghệ</a:t>
                      </a:r>
                      <a:r>
                        <a:rPr lang="en-US" sz="900" b="0" dirty="0">
                          <a:solidFill>
                            <a:schemeClr val="tx1"/>
                          </a:solidFill>
                          <a:latin typeface="Arial" panose="020B0604020202020204" pitchFamily="34" charset="0"/>
                          <a:cs typeface="Arial" panose="020B0604020202020204" pitchFamily="34" charset="0"/>
                        </a:rPr>
                        <a:t> </a:t>
                      </a:r>
                      <a:r>
                        <a:rPr lang="en-US" sz="900" b="0" dirty="0" err="1">
                          <a:solidFill>
                            <a:schemeClr val="tx1"/>
                          </a:solidFill>
                          <a:latin typeface="Arial" panose="020B0604020202020204" pitchFamily="34" charset="0"/>
                          <a:cs typeface="Arial" panose="020B0604020202020204" pitchFamily="34" charset="0"/>
                        </a:rPr>
                        <a:t>chính</a:t>
                      </a:r>
                      <a:endParaRPr lang="en-US" sz="900" b="0" dirty="0">
                        <a:solidFill>
                          <a:schemeClr val="tx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900" b="0" dirty="0">
                        <a:solidFill>
                          <a:schemeClr val="tx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900" b="0" dirty="0">
                        <a:solidFill>
                          <a:schemeClr val="tx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900" b="0" dirty="0">
                        <a:solidFill>
                          <a:schemeClr val="tx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err="1">
                          <a:solidFill>
                            <a:schemeClr val="tx1"/>
                          </a:solidFill>
                          <a:latin typeface="Arial" panose="020B0604020202020204" pitchFamily="34" charset="0"/>
                          <a:cs typeface="Arial" panose="020B0604020202020204" pitchFamily="34" charset="0"/>
                        </a:rPr>
                        <a:t>Cơ</a:t>
                      </a:r>
                      <a:r>
                        <a:rPr lang="en-US" sz="900" b="0" dirty="0">
                          <a:solidFill>
                            <a:schemeClr val="tx1"/>
                          </a:solidFill>
                          <a:latin typeface="Arial" panose="020B0604020202020204" pitchFamily="34" charset="0"/>
                          <a:cs typeface="Arial" panose="020B0604020202020204" pitchFamily="34" charset="0"/>
                        </a:rPr>
                        <a:t> </a:t>
                      </a:r>
                      <a:r>
                        <a:rPr lang="en-US" sz="900" b="0" dirty="0" err="1">
                          <a:solidFill>
                            <a:schemeClr val="tx1"/>
                          </a:solidFill>
                          <a:latin typeface="Arial" panose="020B0604020202020204" pitchFamily="34" charset="0"/>
                          <a:cs typeface="Arial" panose="020B0604020202020204" pitchFamily="34" charset="0"/>
                        </a:rPr>
                        <a:t>sở</a:t>
                      </a:r>
                      <a:r>
                        <a:rPr lang="en-US" sz="900" b="0" dirty="0">
                          <a:solidFill>
                            <a:schemeClr val="tx1"/>
                          </a:solidFill>
                          <a:latin typeface="Arial" panose="020B0604020202020204" pitchFamily="34" charset="0"/>
                          <a:cs typeface="Arial" panose="020B0604020202020204" pitchFamily="34" charset="0"/>
                        </a:rPr>
                        <a:t> </a:t>
                      </a:r>
                      <a:r>
                        <a:rPr lang="en-US" sz="900" b="0" dirty="0" err="1">
                          <a:solidFill>
                            <a:schemeClr val="tx1"/>
                          </a:solidFill>
                          <a:latin typeface="Arial" panose="020B0604020202020204" pitchFamily="34" charset="0"/>
                          <a:cs typeface="Arial" panose="020B0604020202020204" pitchFamily="34" charset="0"/>
                        </a:rPr>
                        <a:t>dữ</a:t>
                      </a:r>
                      <a:r>
                        <a:rPr lang="en-US" sz="900" b="0" dirty="0">
                          <a:solidFill>
                            <a:schemeClr val="tx1"/>
                          </a:solidFill>
                          <a:latin typeface="Arial" panose="020B0604020202020204" pitchFamily="34" charset="0"/>
                          <a:cs typeface="Arial" panose="020B0604020202020204" pitchFamily="34" charset="0"/>
                        </a:rPr>
                        <a:t> </a:t>
                      </a:r>
                      <a:r>
                        <a:rPr lang="en-US" sz="900" b="0" dirty="0" err="1">
                          <a:solidFill>
                            <a:schemeClr val="tx1"/>
                          </a:solidFill>
                          <a:latin typeface="Arial" panose="020B0604020202020204" pitchFamily="34" charset="0"/>
                          <a:cs typeface="Arial" panose="020B0604020202020204" pitchFamily="34" charset="0"/>
                        </a:rPr>
                        <a:t>liệu</a:t>
                      </a:r>
                      <a:endParaRPr lang="en-US" sz="900" b="0" dirty="0">
                        <a:solidFill>
                          <a:schemeClr val="tx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900" b="0" dirty="0">
                        <a:solidFill>
                          <a:schemeClr val="tx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900" b="0" dirty="0">
                        <a:solidFill>
                          <a:schemeClr val="tx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900" b="0" dirty="0">
                        <a:solidFill>
                          <a:schemeClr val="tx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err="1">
                          <a:solidFill>
                            <a:schemeClr val="tx1"/>
                          </a:solidFill>
                          <a:latin typeface="Arial" panose="020B0604020202020204" pitchFamily="34" charset="0"/>
                          <a:cs typeface="Arial" panose="020B0604020202020204" pitchFamily="34" charset="0"/>
                        </a:rPr>
                        <a:t>Bảo</a:t>
                      </a:r>
                      <a:r>
                        <a:rPr lang="en-US" sz="900" b="0" dirty="0">
                          <a:solidFill>
                            <a:schemeClr val="tx1"/>
                          </a:solidFill>
                          <a:latin typeface="Arial" panose="020B0604020202020204" pitchFamily="34" charset="0"/>
                          <a:cs typeface="Arial" panose="020B0604020202020204" pitchFamily="34" charset="0"/>
                        </a:rPr>
                        <a:t> </a:t>
                      </a:r>
                      <a:r>
                        <a:rPr lang="en-US" sz="900" b="0" dirty="0" err="1">
                          <a:solidFill>
                            <a:schemeClr val="tx1"/>
                          </a:solidFill>
                          <a:latin typeface="Arial" panose="020B0604020202020204" pitchFamily="34" charset="0"/>
                          <a:cs typeface="Arial" panose="020B0604020202020204" pitchFamily="34" charset="0"/>
                        </a:rPr>
                        <a:t>mật</a:t>
                      </a:r>
                      <a:endParaRPr lang="en-US" sz="900" b="0" dirty="0">
                        <a:solidFill>
                          <a:schemeClr val="tx1"/>
                        </a:solidFill>
                        <a:latin typeface="Arial" panose="020B0604020202020204" pitchFamily="34" charset="0"/>
                        <a:cs typeface="Arial" panose="020B0604020202020204" pitchFamily="34" charset="0"/>
                      </a:endParaRPr>
                    </a:p>
                    <a:p>
                      <a:pPr algn="just"/>
                      <a:endParaRPr lang="vi-VN" sz="900" dirty="0">
                        <a:latin typeface="Arial" panose="020B0604020202020204" pitchFamily="34" charset="0"/>
                        <a:cs typeface="Arial Hebrew Scholar"/>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7830843"/>
                  </a:ext>
                </a:extLst>
              </a:tr>
            </a:tbl>
          </a:graphicData>
        </a:graphic>
      </p:graphicFrame>
      <p:graphicFrame>
        <p:nvGraphicFramePr>
          <p:cNvPr id="82" name="Table 81">
            <a:extLst>
              <a:ext uri="{FF2B5EF4-FFF2-40B4-BE49-F238E27FC236}">
                <a16:creationId xmlns:a16="http://schemas.microsoft.com/office/drawing/2014/main" id="{232FA873-71B4-C434-9F8C-88FB366D900C}"/>
              </a:ext>
            </a:extLst>
          </p:cNvPr>
          <p:cNvGraphicFramePr>
            <a:graphicFrameLocks noGrp="1"/>
          </p:cNvGraphicFramePr>
          <p:nvPr>
            <p:extLst>
              <p:ext uri="{D42A27DB-BD31-4B8C-83A1-F6EECF244321}">
                <p14:modId xmlns:p14="http://schemas.microsoft.com/office/powerpoint/2010/main" val="316566424"/>
              </p:ext>
            </p:extLst>
          </p:nvPr>
        </p:nvGraphicFramePr>
        <p:xfrm>
          <a:off x="71978" y="3794556"/>
          <a:ext cx="3890421" cy="6055182"/>
        </p:xfrm>
        <a:graphic>
          <a:graphicData uri="http://schemas.openxmlformats.org/drawingml/2006/table">
            <a:tbl>
              <a:tblPr firstRow="1" bandRow="1">
                <a:tableStyleId>{5C22544A-7EE6-4342-B048-85BDC9FD1C3A}</a:tableStyleId>
              </a:tblPr>
              <a:tblGrid>
                <a:gridCol w="3890421">
                  <a:extLst>
                    <a:ext uri="{9D8B030D-6E8A-4147-A177-3AD203B41FA5}">
                      <a16:colId xmlns:a16="http://schemas.microsoft.com/office/drawing/2014/main" val="1520847292"/>
                    </a:ext>
                  </a:extLst>
                </a:gridCol>
              </a:tblGrid>
              <a:tr h="122328">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b="1" dirty="0">
                          <a:solidFill>
                            <a:schemeClr val="bg1"/>
                          </a:solidFill>
                          <a:latin typeface="Arial" panose="020B0604020202020204" pitchFamily="34" charset="0"/>
                          <a:cs typeface="Arial" panose="020B0604020202020204" pitchFamily="34" charset="0"/>
                        </a:rPr>
                        <a:t>Giao </a:t>
                      </a:r>
                      <a:r>
                        <a:rPr lang="en-US" sz="1000" b="1" dirty="0" err="1">
                          <a:solidFill>
                            <a:schemeClr val="bg1"/>
                          </a:solidFill>
                          <a:latin typeface="Arial" panose="020B0604020202020204" pitchFamily="34" charset="0"/>
                          <a:cs typeface="Arial" panose="020B0604020202020204" pitchFamily="34" charset="0"/>
                        </a:rPr>
                        <a:t>diện</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ứng</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dụng</a:t>
                      </a:r>
                      <a:endParaRPr lang="en-US" sz="1000" b="1" dirty="0">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3F99"/>
                    </a:solidFill>
                  </a:tcPr>
                </a:tc>
                <a:extLst>
                  <a:ext uri="{0D108BD9-81ED-4DB2-BD59-A6C34878D82A}">
                    <a16:rowId xmlns:a16="http://schemas.microsoft.com/office/drawing/2014/main" val="2535013272"/>
                  </a:ext>
                </a:extLst>
              </a:tr>
              <a:tr h="581134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97733821"/>
                  </a:ext>
                </a:extLst>
              </a:tr>
            </a:tbl>
          </a:graphicData>
        </a:graphic>
      </p:graphicFrame>
      <p:graphicFrame>
        <p:nvGraphicFramePr>
          <p:cNvPr id="89" name="Table 88">
            <a:extLst>
              <a:ext uri="{FF2B5EF4-FFF2-40B4-BE49-F238E27FC236}">
                <a16:creationId xmlns:a16="http://schemas.microsoft.com/office/drawing/2014/main" id="{F959286E-D53A-FB49-5826-7326306DBEDE}"/>
              </a:ext>
            </a:extLst>
          </p:cNvPr>
          <p:cNvGraphicFramePr>
            <a:graphicFrameLocks noGrp="1"/>
          </p:cNvGraphicFramePr>
          <p:nvPr>
            <p:extLst>
              <p:ext uri="{D42A27DB-BD31-4B8C-83A1-F6EECF244321}">
                <p14:modId xmlns:p14="http://schemas.microsoft.com/office/powerpoint/2010/main" val="4259971899"/>
              </p:ext>
            </p:extLst>
          </p:nvPr>
        </p:nvGraphicFramePr>
        <p:xfrm>
          <a:off x="4027951" y="6619313"/>
          <a:ext cx="2789417" cy="1426181"/>
        </p:xfrm>
        <a:graphic>
          <a:graphicData uri="http://schemas.openxmlformats.org/drawingml/2006/table">
            <a:tbl>
              <a:tblPr firstRow="1" bandRow="1">
                <a:tableStyleId>{5C22544A-7EE6-4342-B048-85BDC9FD1C3A}</a:tableStyleId>
              </a:tblPr>
              <a:tblGrid>
                <a:gridCol w="2789417">
                  <a:extLst>
                    <a:ext uri="{9D8B030D-6E8A-4147-A177-3AD203B41FA5}">
                      <a16:colId xmlns:a16="http://schemas.microsoft.com/office/drawing/2014/main" val="1520847292"/>
                    </a:ext>
                  </a:extLst>
                </a:gridCol>
              </a:tblGrid>
              <a:tr h="14651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b="1">
                          <a:solidFill>
                            <a:schemeClr val="bg1"/>
                          </a:solidFill>
                          <a:latin typeface="Arial" panose="020B0604020202020204" pitchFamily="34" charset="0"/>
                          <a:cs typeface="Arial" panose="020B0604020202020204" pitchFamily="34" charset="0"/>
                        </a:rPr>
                        <a:t>Platform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233F99"/>
                    </a:solidFill>
                  </a:tcPr>
                </a:tc>
                <a:extLst>
                  <a:ext uri="{0D108BD9-81ED-4DB2-BD59-A6C34878D82A}">
                    <a16:rowId xmlns:a16="http://schemas.microsoft.com/office/drawing/2014/main" val="2535013272"/>
                  </a:ext>
                </a:extLst>
              </a:tr>
              <a:tr h="118234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7830843"/>
                  </a:ext>
                </a:extLst>
              </a:tr>
            </a:tbl>
          </a:graphicData>
        </a:graphic>
      </p:graphicFrame>
      <p:graphicFrame>
        <p:nvGraphicFramePr>
          <p:cNvPr id="90" name="Table 89">
            <a:extLst>
              <a:ext uri="{FF2B5EF4-FFF2-40B4-BE49-F238E27FC236}">
                <a16:creationId xmlns:a16="http://schemas.microsoft.com/office/drawing/2014/main" id="{0335167A-EED6-A656-BA4F-2AD2225BD2B1}"/>
              </a:ext>
            </a:extLst>
          </p:cNvPr>
          <p:cNvGraphicFramePr>
            <a:graphicFrameLocks noGrp="1"/>
          </p:cNvGraphicFramePr>
          <p:nvPr>
            <p:extLst>
              <p:ext uri="{D42A27DB-BD31-4B8C-83A1-F6EECF244321}">
                <p14:modId xmlns:p14="http://schemas.microsoft.com/office/powerpoint/2010/main" val="4263277510"/>
              </p:ext>
            </p:extLst>
          </p:nvPr>
        </p:nvGraphicFramePr>
        <p:xfrm>
          <a:off x="4027950" y="8068432"/>
          <a:ext cx="2789417" cy="1426181"/>
        </p:xfrm>
        <a:graphic>
          <a:graphicData uri="http://schemas.openxmlformats.org/drawingml/2006/table">
            <a:tbl>
              <a:tblPr firstRow="1" bandRow="1">
                <a:tableStyleId>{5C22544A-7EE6-4342-B048-85BDC9FD1C3A}</a:tableStyleId>
              </a:tblPr>
              <a:tblGrid>
                <a:gridCol w="2789417">
                  <a:extLst>
                    <a:ext uri="{9D8B030D-6E8A-4147-A177-3AD203B41FA5}">
                      <a16:colId xmlns:a16="http://schemas.microsoft.com/office/drawing/2014/main" val="1520847292"/>
                    </a:ext>
                  </a:extLst>
                </a:gridCol>
              </a:tblGrid>
              <a:tr h="14651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b="1">
                          <a:solidFill>
                            <a:schemeClr val="bg1"/>
                          </a:solidFill>
                          <a:latin typeface="Arial" panose="020B0604020202020204" pitchFamily="34" charset="0"/>
                          <a:cs typeface="Arial" panose="020B0604020202020204" pitchFamily="34" charset="0"/>
                        </a:rPr>
                        <a:t>Hướng phát triển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233F99"/>
                    </a:solidFill>
                  </a:tcPr>
                </a:tc>
                <a:extLst>
                  <a:ext uri="{0D108BD9-81ED-4DB2-BD59-A6C34878D82A}">
                    <a16:rowId xmlns:a16="http://schemas.microsoft.com/office/drawing/2014/main" val="2535013272"/>
                  </a:ext>
                </a:extLst>
              </a:tr>
              <a:tr h="1182341">
                <a:tc>
                  <a:txBody>
                    <a:bodyPr/>
                    <a:lstStyle/>
                    <a:p>
                      <a:pPr marL="171450" indent="-171450" algn="just">
                        <a:buFont typeface="Arial" panose="020B0604020202020204" pitchFamily="34" charset="0"/>
                        <a:buChar char="•"/>
                      </a:pPr>
                      <a:r>
                        <a:rPr lang="vi-VN" sz="1000" dirty="0">
                          <a:latin typeface="+mn-lt"/>
                          <a:cs typeface="Arial" panose="020B0604020202020204" pitchFamily="34" charset="0"/>
                        </a:rPr>
                        <a:t>Bảo mật private key phía client</a:t>
                      </a:r>
                    </a:p>
                    <a:p>
                      <a:pPr marL="171450" indent="-171450" algn="just">
                        <a:buFont typeface="Arial" panose="020B0604020202020204" pitchFamily="34" charset="0"/>
                        <a:buChar char="•"/>
                      </a:pPr>
                      <a:r>
                        <a:rPr lang="vi-VN" sz="1000" dirty="0">
                          <a:latin typeface="+mn-lt"/>
                          <a:cs typeface="Arial" panose="020B0604020202020204" pitchFamily="34" charset="0"/>
                        </a:rPr>
                        <a:t>Triển khai multi-node blockchain</a:t>
                      </a:r>
                    </a:p>
                    <a:p>
                      <a:pPr marL="171450" indent="-171450" algn="just">
                        <a:buFont typeface="Arial" panose="020B0604020202020204" pitchFamily="34" charset="0"/>
                        <a:buChar char="•"/>
                      </a:pPr>
                      <a:r>
                        <a:rPr lang="vi-VN" sz="1000" dirty="0">
                          <a:latin typeface="+mn-lt"/>
                          <a:cs typeface="Arial" panose="020B0604020202020204" pitchFamily="34" charset="0"/>
                        </a:rPr>
                        <a:t>Tích hợp API với hệ thống ERP</a:t>
                      </a:r>
                    </a:p>
                    <a:p>
                      <a:pPr marL="171450" indent="-171450" algn="just">
                        <a:buFont typeface="Arial" panose="020B0604020202020204" pitchFamily="34" charset="0"/>
                        <a:buChar char="•"/>
                      </a:pPr>
                      <a:r>
                        <a:rPr lang="vi-VN" sz="1000" dirty="0">
                          <a:latin typeface="+mn-lt"/>
                          <a:cs typeface="Arial" panose="020B0604020202020204" pitchFamily="34" charset="0"/>
                        </a:rPr>
                        <a:t>Bổ sung xuất báo cáo và tối ưu hiệu năng mining.</a:t>
                      </a:r>
                      <a:endParaRPr lang="en-US"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7830843"/>
                  </a:ext>
                </a:extLst>
              </a:tr>
            </a:tbl>
          </a:graphicData>
        </a:graphic>
      </p:graphicFrame>
      <p:sp>
        <p:nvSpPr>
          <p:cNvPr id="92" name="TextBox 91">
            <a:extLst>
              <a:ext uri="{FF2B5EF4-FFF2-40B4-BE49-F238E27FC236}">
                <a16:creationId xmlns:a16="http://schemas.microsoft.com/office/drawing/2014/main" id="{A0C06921-7CE0-2846-54DF-FEF2E2972390}"/>
              </a:ext>
            </a:extLst>
          </p:cNvPr>
          <p:cNvSpPr txBox="1"/>
          <p:nvPr/>
        </p:nvSpPr>
        <p:spPr>
          <a:xfrm>
            <a:off x="3943438" y="9586860"/>
            <a:ext cx="2958439" cy="215444"/>
          </a:xfrm>
          <a:prstGeom prst="rect">
            <a:avLst/>
          </a:prstGeom>
          <a:noFill/>
        </p:spPr>
        <p:txBody>
          <a:bodyPr wrap="square">
            <a:spAutoFit/>
          </a:bodyPr>
          <a:lstStyle/>
          <a:p>
            <a:pPr algn="ctr"/>
            <a:r>
              <a:rPr lang="en-US" sz="750" dirty="0">
                <a:latin typeface="Arial" panose="020B0604020202020204" pitchFamily="34" charset="0"/>
                <a:cs typeface="Arial Hebrew Scholar"/>
              </a:rPr>
              <a:t>©</a:t>
            </a:r>
            <a:r>
              <a:rPr lang="en-US" sz="750" dirty="0" err="1">
                <a:latin typeface="Arial" panose="020B0604020202020204" pitchFamily="34" charset="0"/>
                <a:cs typeface="Arial Hebrew Scholar"/>
              </a:rPr>
              <a:t>AIoTLab</a:t>
            </a:r>
            <a:r>
              <a:rPr lang="en-US" sz="750" dirty="0">
                <a:latin typeface="Arial" panose="020B0604020202020204" pitchFamily="34" charset="0"/>
                <a:cs typeface="Arial Hebrew Scholar"/>
              </a:rPr>
              <a:t>, Faculty of Information Technology, </a:t>
            </a:r>
            <a:r>
              <a:rPr lang="en-US" sz="750" dirty="0" err="1">
                <a:latin typeface="Arial" panose="020B0604020202020204" pitchFamily="34" charset="0"/>
                <a:cs typeface="Arial Hebrew Scholar"/>
              </a:rPr>
              <a:t>DaiNam</a:t>
            </a:r>
            <a:r>
              <a:rPr lang="en-US" sz="750" dirty="0">
                <a:latin typeface="Arial" panose="020B0604020202020204" pitchFamily="34" charset="0"/>
                <a:cs typeface="Arial Hebrew Scholar"/>
              </a:rPr>
              <a:t> University</a:t>
            </a:r>
          </a:p>
        </p:txBody>
      </p:sp>
      <p:grpSp>
        <p:nvGrpSpPr>
          <p:cNvPr id="1024" name="Group 1023">
            <a:extLst>
              <a:ext uri="{FF2B5EF4-FFF2-40B4-BE49-F238E27FC236}">
                <a16:creationId xmlns:a16="http://schemas.microsoft.com/office/drawing/2014/main" id="{744A033B-ADB1-65DC-6E8B-77A248771067}"/>
              </a:ext>
            </a:extLst>
          </p:cNvPr>
          <p:cNvGrpSpPr/>
          <p:nvPr/>
        </p:nvGrpSpPr>
        <p:grpSpPr>
          <a:xfrm>
            <a:off x="4535229" y="7599157"/>
            <a:ext cx="683266" cy="362763"/>
            <a:chOff x="6071533" y="2197843"/>
            <a:chExt cx="683266" cy="367061"/>
          </a:xfrm>
        </p:grpSpPr>
        <p:sp>
          <p:nvSpPr>
            <p:cNvPr id="1025" name="TextBox 1024">
              <a:extLst>
                <a:ext uri="{FF2B5EF4-FFF2-40B4-BE49-F238E27FC236}">
                  <a16:creationId xmlns:a16="http://schemas.microsoft.com/office/drawing/2014/main" id="{F232106F-BB02-AEDC-69E9-2BDE01BDE00D}"/>
                </a:ext>
              </a:extLst>
            </p:cNvPr>
            <p:cNvSpPr txBox="1"/>
            <p:nvPr/>
          </p:nvSpPr>
          <p:spPr>
            <a:xfrm>
              <a:off x="6105590" y="2222338"/>
              <a:ext cx="649209" cy="342566"/>
            </a:xfrm>
            <a:prstGeom prst="rect">
              <a:avLst/>
            </a:prstGeom>
            <a:noFill/>
          </p:spPr>
          <p:txBody>
            <a:bodyPr wrap="square">
              <a:spAutoFit/>
            </a:bodyPr>
            <a:lstStyle/>
            <a:p>
              <a:pPr algn="ctr"/>
              <a:r>
                <a:rPr lang="en-US" sz="800" b="1">
                  <a:latin typeface="Arial Hebrew Scholar" pitchFamily="2" charset="-79"/>
                  <a:cs typeface="Arial Hebrew Scholar" pitchFamily="2" charset="-79"/>
                </a:rPr>
                <a:t>Github Platform</a:t>
              </a:r>
              <a:endParaRPr lang="en-US" sz="800" b="1" dirty="0">
                <a:latin typeface="Arial Hebrew Scholar" pitchFamily="2" charset="-79"/>
                <a:cs typeface="Arial Hebrew Scholar" pitchFamily="2" charset="-79"/>
              </a:endParaRPr>
            </a:p>
          </p:txBody>
        </p:sp>
        <p:pic>
          <p:nvPicPr>
            <p:cNvPr id="1026" name="Picture 4" descr="Github Logo - Free social media icons">
              <a:extLst>
                <a:ext uri="{FF2B5EF4-FFF2-40B4-BE49-F238E27FC236}">
                  <a16:creationId xmlns:a16="http://schemas.microsoft.com/office/drawing/2014/main" id="{58468723-8BEE-E9A8-37F1-25D443A7862F}"/>
                </a:ext>
              </a:extLst>
            </p:cNvPr>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rot="10800000" flipV="1">
              <a:off x="6071533" y="2197843"/>
              <a:ext cx="166522" cy="16652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35" name="Group 1034">
            <a:extLst>
              <a:ext uri="{FF2B5EF4-FFF2-40B4-BE49-F238E27FC236}">
                <a16:creationId xmlns:a16="http://schemas.microsoft.com/office/drawing/2014/main" id="{CA4AE13E-261B-CCD9-0CCB-E209746E8442}"/>
              </a:ext>
            </a:extLst>
          </p:cNvPr>
          <p:cNvGrpSpPr/>
          <p:nvPr/>
        </p:nvGrpSpPr>
        <p:grpSpPr>
          <a:xfrm>
            <a:off x="5679061" y="6914401"/>
            <a:ext cx="725093" cy="1027194"/>
            <a:chOff x="5729861" y="6934721"/>
            <a:chExt cx="725093" cy="1027194"/>
          </a:xfrm>
        </p:grpSpPr>
        <p:pic>
          <p:nvPicPr>
            <p:cNvPr id="1029" name="Picture 1028">
              <a:extLst>
                <a:ext uri="{FF2B5EF4-FFF2-40B4-BE49-F238E27FC236}">
                  <a16:creationId xmlns:a16="http://schemas.microsoft.com/office/drawing/2014/main" id="{9A6FA28E-24A2-971C-1329-B9C39D8020D1}"/>
                </a:ext>
              </a:extLst>
            </p:cNvPr>
            <p:cNvPicPr>
              <a:picLocks noChangeAspect="1"/>
            </p:cNvPicPr>
            <p:nvPr/>
          </p:nvPicPr>
          <p:blipFill>
            <a:blip r:embed="rId5"/>
            <a:stretch>
              <a:fillRect/>
            </a:stretch>
          </p:blipFill>
          <p:spPr>
            <a:xfrm>
              <a:off x="5729861" y="6934721"/>
              <a:ext cx="658860" cy="648000"/>
            </a:xfrm>
            <a:prstGeom prst="rect">
              <a:avLst/>
            </a:prstGeom>
          </p:spPr>
        </p:pic>
        <p:grpSp>
          <p:nvGrpSpPr>
            <p:cNvPr id="1031" name="Group 1030">
              <a:extLst>
                <a:ext uri="{FF2B5EF4-FFF2-40B4-BE49-F238E27FC236}">
                  <a16:creationId xmlns:a16="http://schemas.microsoft.com/office/drawing/2014/main" id="{CF614D1B-5E22-CCB8-7095-13F12F04FD96}"/>
                </a:ext>
              </a:extLst>
            </p:cNvPr>
            <p:cNvGrpSpPr/>
            <p:nvPr/>
          </p:nvGrpSpPr>
          <p:grpSpPr>
            <a:xfrm>
              <a:off x="5771688" y="7623361"/>
              <a:ext cx="683266" cy="338554"/>
              <a:chOff x="6071533" y="2191497"/>
              <a:chExt cx="683266" cy="342566"/>
            </a:xfrm>
          </p:grpSpPr>
          <p:sp>
            <p:nvSpPr>
              <p:cNvPr id="1032" name="TextBox 1031">
                <a:extLst>
                  <a:ext uri="{FF2B5EF4-FFF2-40B4-BE49-F238E27FC236}">
                    <a16:creationId xmlns:a16="http://schemas.microsoft.com/office/drawing/2014/main" id="{C3051B63-3463-6494-3CCA-F8F194D0A4B7}"/>
                  </a:ext>
                </a:extLst>
              </p:cNvPr>
              <p:cNvSpPr txBox="1"/>
              <p:nvPr/>
            </p:nvSpPr>
            <p:spPr>
              <a:xfrm>
                <a:off x="6105590" y="2191497"/>
                <a:ext cx="649209" cy="342566"/>
              </a:xfrm>
              <a:prstGeom prst="rect">
                <a:avLst/>
              </a:prstGeom>
              <a:noFill/>
            </p:spPr>
            <p:txBody>
              <a:bodyPr wrap="square">
                <a:spAutoFit/>
              </a:bodyPr>
              <a:lstStyle/>
              <a:p>
                <a:pPr algn="ctr"/>
                <a:r>
                  <a:rPr lang="en-US" sz="800" b="1">
                    <a:latin typeface="Arial Hebrew Scholar" pitchFamily="2" charset="-79"/>
                    <a:cs typeface="Arial Hebrew Scholar" pitchFamily="2" charset="-79"/>
                  </a:rPr>
                  <a:t>Github FIT-DNU</a:t>
                </a:r>
                <a:endParaRPr lang="en-US" sz="800" b="1" dirty="0">
                  <a:latin typeface="Arial Hebrew Scholar" pitchFamily="2" charset="-79"/>
                  <a:cs typeface="Arial Hebrew Scholar" pitchFamily="2" charset="-79"/>
                </a:endParaRPr>
              </a:p>
            </p:txBody>
          </p:sp>
          <p:pic>
            <p:nvPicPr>
              <p:cNvPr id="1033" name="Picture 4" descr="Github Logo - Free social media icons">
                <a:extLst>
                  <a:ext uri="{FF2B5EF4-FFF2-40B4-BE49-F238E27FC236}">
                    <a16:creationId xmlns:a16="http://schemas.microsoft.com/office/drawing/2014/main" id="{E7E7E365-5E2E-837C-A71B-F336329B5125}"/>
                  </a:ext>
                </a:extLst>
              </p:cNvPr>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rot="10800000" flipV="1">
                <a:off x="6071533" y="2197843"/>
                <a:ext cx="166522" cy="166522"/>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11" name="Picture 10">
            <a:extLst>
              <a:ext uri="{FF2B5EF4-FFF2-40B4-BE49-F238E27FC236}">
                <a16:creationId xmlns:a16="http://schemas.microsoft.com/office/drawing/2014/main" id="{8A4FF309-47E0-F33B-1DF6-02E72BD7ADF3}"/>
              </a:ext>
            </a:extLst>
          </p:cNvPr>
          <p:cNvPicPr>
            <a:picLocks noChangeAspect="1"/>
          </p:cNvPicPr>
          <p:nvPr/>
        </p:nvPicPr>
        <p:blipFill>
          <a:blip r:embed="rId6">
            <a:extLst>
              <a:ext uri="{28A0092B-C50C-407E-A947-70E740481C1C}">
                <a14:useLocalDpi xmlns:a14="http://schemas.microsoft.com/office/drawing/2010/main" val="0"/>
              </a:ext>
            </a:extLst>
          </a:blip>
          <a:srcRect l="10394" t="8932" r="9558" b="12619"/>
          <a:stretch/>
        </p:blipFill>
        <p:spPr>
          <a:xfrm>
            <a:off x="4535229" y="6898146"/>
            <a:ext cx="664386" cy="705366"/>
          </a:xfrm>
          <a:prstGeom prst="rect">
            <a:avLst/>
          </a:prstGeom>
        </p:spPr>
      </p:pic>
      <p:pic>
        <p:nvPicPr>
          <p:cNvPr id="1042" name="Picture 18" descr="125 Sha 256 Algorithm Royalty-Free Images, Stock Photos &amp; Pictures |  Shutterstock">
            <a:extLst>
              <a:ext uri="{FF2B5EF4-FFF2-40B4-BE49-F238E27FC236}">
                <a16:creationId xmlns:a16="http://schemas.microsoft.com/office/drawing/2014/main" id="{FFA57EDF-78AB-F11F-7EB0-314B52983482}"/>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11303" b="17736"/>
          <a:stretch/>
        </p:blipFill>
        <p:spPr bwMode="auto">
          <a:xfrm>
            <a:off x="5311983" y="6303428"/>
            <a:ext cx="284758" cy="217609"/>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How To Enable ECDSA Signature Algorithm for Better Security - Cheap SSL  Security">
            <a:extLst>
              <a:ext uri="{FF2B5EF4-FFF2-40B4-BE49-F238E27FC236}">
                <a16:creationId xmlns:a16="http://schemas.microsoft.com/office/drawing/2014/main" id="{5CC164B4-D891-C282-3282-A8159BC6C869}"/>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24074" t="6246" r="23968" b="5460"/>
          <a:stretch/>
        </p:blipFill>
        <p:spPr bwMode="auto">
          <a:xfrm>
            <a:off x="5934962" y="6286285"/>
            <a:ext cx="482600" cy="26824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19BD3372-7498-4B6C-E842-4F46E1768662}"/>
              </a:ext>
            </a:extLst>
          </p:cNvPr>
          <p:cNvPicPr>
            <a:picLocks noChangeAspect="1"/>
          </p:cNvPicPr>
          <p:nvPr/>
        </p:nvPicPr>
        <p:blipFill>
          <a:blip r:embed="rId9"/>
          <a:stretch>
            <a:fillRect/>
          </a:stretch>
        </p:blipFill>
        <p:spPr>
          <a:xfrm>
            <a:off x="256032" y="4155647"/>
            <a:ext cx="3456432" cy="1777342"/>
          </a:xfrm>
          <a:prstGeom prst="rect">
            <a:avLst/>
          </a:prstGeom>
        </p:spPr>
      </p:pic>
      <p:pic>
        <p:nvPicPr>
          <p:cNvPr id="10" name="Picture 9">
            <a:extLst>
              <a:ext uri="{FF2B5EF4-FFF2-40B4-BE49-F238E27FC236}">
                <a16:creationId xmlns:a16="http://schemas.microsoft.com/office/drawing/2014/main" id="{A98AF668-C406-42F9-9BCD-207D0136689B}"/>
              </a:ext>
            </a:extLst>
          </p:cNvPr>
          <p:cNvPicPr>
            <a:picLocks noChangeAspect="1"/>
          </p:cNvPicPr>
          <p:nvPr/>
        </p:nvPicPr>
        <p:blipFill>
          <a:blip r:embed="rId10"/>
          <a:stretch>
            <a:fillRect/>
          </a:stretch>
        </p:blipFill>
        <p:spPr>
          <a:xfrm>
            <a:off x="245140" y="6015300"/>
            <a:ext cx="3478215" cy="1777342"/>
          </a:xfrm>
          <a:prstGeom prst="rect">
            <a:avLst/>
          </a:prstGeom>
        </p:spPr>
      </p:pic>
      <p:pic>
        <p:nvPicPr>
          <p:cNvPr id="14" name="Picture 13">
            <a:extLst>
              <a:ext uri="{FF2B5EF4-FFF2-40B4-BE49-F238E27FC236}">
                <a16:creationId xmlns:a16="http://schemas.microsoft.com/office/drawing/2014/main" id="{74FD072B-8713-676A-0E3B-3E84E04F32DE}"/>
              </a:ext>
            </a:extLst>
          </p:cNvPr>
          <p:cNvPicPr>
            <a:picLocks noChangeAspect="1"/>
          </p:cNvPicPr>
          <p:nvPr/>
        </p:nvPicPr>
        <p:blipFill>
          <a:blip r:embed="rId11"/>
          <a:stretch>
            <a:fillRect/>
          </a:stretch>
        </p:blipFill>
        <p:spPr>
          <a:xfrm>
            <a:off x="256032" y="7835302"/>
            <a:ext cx="3317914" cy="1892439"/>
          </a:xfrm>
          <a:prstGeom prst="rect">
            <a:avLst/>
          </a:prstGeom>
        </p:spPr>
      </p:pic>
      <p:pic>
        <p:nvPicPr>
          <p:cNvPr id="20" name="Picture 19">
            <a:extLst>
              <a:ext uri="{FF2B5EF4-FFF2-40B4-BE49-F238E27FC236}">
                <a16:creationId xmlns:a16="http://schemas.microsoft.com/office/drawing/2014/main" id="{D1D9C935-DC8E-B919-F268-146120F967FD}"/>
              </a:ext>
            </a:extLst>
          </p:cNvPr>
          <p:cNvPicPr>
            <a:picLocks noChangeAspect="1"/>
          </p:cNvPicPr>
          <p:nvPr/>
        </p:nvPicPr>
        <p:blipFill>
          <a:blip r:embed="rId12"/>
          <a:stretch>
            <a:fillRect/>
          </a:stretch>
        </p:blipFill>
        <p:spPr>
          <a:xfrm>
            <a:off x="4055415" y="2549895"/>
            <a:ext cx="2546553" cy="2019877"/>
          </a:xfrm>
          <a:prstGeom prst="rect">
            <a:avLst/>
          </a:prstGeom>
        </p:spPr>
      </p:pic>
      <p:pic>
        <p:nvPicPr>
          <p:cNvPr id="30" name="Picture 29">
            <a:extLst>
              <a:ext uri="{FF2B5EF4-FFF2-40B4-BE49-F238E27FC236}">
                <a16:creationId xmlns:a16="http://schemas.microsoft.com/office/drawing/2014/main" id="{18A74A90-1B60-02F0-8316-1F900A86EF2F}"/>
              </a:ext>
            </a:extLst>
          </p:cNvPr>
          <p:cNvPicPr>
            <a:picLocks noChangeAspect="1"/>
          </p:cNvPicPr>
          <p:nvPr/>
        </p:nvPicPr>
        <p:blipFill>
          <a:blip r:embed="rId13"/>
          <a:stretch>
            <a:fillRect/>
          </a:stretch>
        </p:blipFill>
        <p:spPr>
          <a:xfrm>
            <a:off x="4328160" y="5147130"/>
            <a:ext cx="2231136" cy="398160"/>
          </a:xfrm>
          <a:prstGeom prst="rect">
            <a:avLst/>
          </a:prstGeom>
        </p:spPr>
      </p:pic>
      <p:pic>
        <p:nvPicPr>
          <p:cNvPr id="32" name="Picture 31">
            <a:extLst>
              <a:ext uri="{FF2B5EF4-FFF2-40B4-BE49-F238E27FC236}">
                <a16:creationId xmlns:a16="http://schemas.microsoft.com/office/drawing/2014/main" id="{6EABD62D-AE93-9155-7AF0-64E37B23DCB7}"/>
              </a:ext>
            </a:extLst>
          </p:cNvPr>
          <p:cNvPicPr>
            <a:picLocks noChangeAspect="1"/>
          </p:cNvPicPr>
          <p:nvPr/>
        </p:nvPicPr>
        <p:blipFill>
          <a:blip r:embed="rId14"/>
          <a:stretch>
            <a:fillRect/>
          </a:stretch>
        </p:blipFill>
        <p:spPr>
          <a:xfrm>
            <a:off x="4813416" y="5714349"/>
            <a:ext cx="483508" cy="349968"/>
          </a:xfrm>
          <a:prstGeom prst="rect">
            <a:avLst/>
          </a:prstGeom>
        </p:spPr>
      </p:pic>
      <p:pic>
        <p:nvPicPr>
          <p:cNvPr id="34" name="Picture 33">
            <a:extLst>
              <a:ext uri="{FF2B5EF4-FFF2-40B4-BE49-F238E27FC236}">
                <a16:creationId xmlns:a16="http://schemas.microsoft.com/office/drawing/2014/main" id="{3AACC3BE-50C3-B77B-8BD2-DA047D117CBD}"/>
              </a:ext>
            </a:extLst>
          </p:cNvPr>
          <p:cNvPicPr>
            <a:picLocks noChangeAspect="1"/>
          </p:cNvPicPr>
          <p:nvPr/>
        </p:nvPicPr>
        <p:blipFill>
          <a:blip r:embed="rId15"/>
          <a:stretch>
            <a:fillRect/>
          </a:stretch>
        </p:blipFill>
        <p:spPr>
          <a:xfrm>
            <a:off x="5596741" y="5696592"/>
            <a:ext cx="564668" cy="385483"/>
          </a:xfrm>
          <a:prstGeom prst="rect">
            <a:avLst/>
          </a:prstGeom>
        </p:spPr>
      </p:pic>
      <p:pic>
        <p:nvPicPr>
          <p:cNvPr id="37" name="Picture 36">
            <a:extLst>
              <a:ext uri="{FF2B5EF4-FFF2-40B4-BE49-F238E27FC236}">
                <a16:creationId xmlns:a16="http://schemas.microsoft.com/office/drawing/2014/main" id="{DD41D331-EDBB-CC66-201A-8B9467687201}"/>
              </a:ext>
            </a:extLst>
          </p:cNvPr>
          <p:cNvPicPr>
            <a:picLocks noChangeAspect="1"/>
          </p:cNvPicPr>
          <p:nvPr/>
        </p:nvPicPr>
        <p:blipFill>
          <a:blip r:embed="rId16"/>
          <a:stretch>
            <a:fillRect/>
          </a:stretch>
        </p:blipFill>
        <p:spPr>
          <a:xfrm>
            <a:off x="4237106" y="6152548"/>
            <a:ext cx="675072" cy="428564"/>
          </a:xfrm>
          <a:prstGeom prst="rect">
            <a:avLst/>
          </a:prstGeom>
        </p:spPr>
      </p:pic>
    </p:spTree>
    <p:extLst>
      <p:ext uri="{BB962C8B-B14F-4D97-AF65-F5344CB8AC3E}">
        <p14:creationId xmlns:p14="http://schemas.microsoft.com/office/powerpoint/2010/main" val="133586980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772</TotalTime>
  <Words>306</Words>
  <Application>Microsoft Office PowerPoint</Application>
  <PresentationFormat>A4 Paper (210x297 mm)</PresentationFormat>
  <Paragraphs>40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Arial Hebrew Scholar</vt:lpstr>
      <vt:lpstr>Calibri</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Thái Khánh Nguyễn</dc:creator>
  <cp:lastModifiedBy>Hoan binoo</cp:lastModifiedBy>
  <cp:revision>109</cp:revision>
  <dcterms:created xsi:type="dcterms:W3CDTF">2023-07-02T07:57:15Z</dcterms:created>
  <dcterms:modified xsi:type="dcterms:W3CDTF">2026-06-04T06:46:36Z</dcterms:modified>
</cp:coreProperties>
</file>